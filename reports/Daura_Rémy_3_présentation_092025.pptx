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9" r:id="rId5"/>
    <p:sldId id="270" r:id="rId6"/>
    <p:sldId id="273" r:id="rId7"/>
    <p:sldId id="259" r:id="rId8"/>
    <p:sldId id="260" r:id="rId9"/>
    <p:sldId id="261" r:id="rId10"/>
    <p:sldId id="268" r:id="rId11"/>
    <p:sldId id="267" r:id="rId12"/>
    <p:sldId id="262" r:id="rId13"/>
    <p:sldId id="263" r:id="rId14"/>
    <p:sldId id="264" r:id="rId15"/>
    <p:sldId id="265" r:id="rId16"/>
    <p:sldId id="266" r:id="rId17"/>
    <p:sldId id="272" r:id="rId18"/>
    <p:sldId id="271"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CBB7C-6000-4472-B6DB-35750A22A9F6}" type="datetimeFigureOut">
              <a:rPr lang="fr-FR" smtClean="0"/>
              <a:t>08/10/2025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F21CC-7006-4EE0-A85C-C4E7D08DB489}" type="slidenum">
              <a:rPr lang="fr-FR" smtClean="0"/>
              <a:t>‹N°›</a:t>
            </a:fld>
            <a:endParaRPr lang="fr-FR"/>
          </a:p>
        </p:txBody>
      </p:sp>
    </p:spTree>
    <p:extLst>
      <p:ext uri="{BB962C8B-B14F-4D97-AF65-F5344CB8AC3E}">
        <p14:creationId xmlns:p14="http://schemas.microsoft.com/office/powerpoint/2010/main" val="508729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J’ai bien consolidé les analyses, explorer les facteurs clés pour suivre les traces de la </a:t>
            </a:r>
            <a:r>
              <a:rPr lang="fr-FR" dirty="0" err="1"/>
              <a:t>fao</a:t>
            </a:r>
            <a:r>
              <a:rPr lang="fr-FR" dirty="0"/>
              <a:t>, détailler ma méthodologie </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a:t>
            </a:fld>
            <a:endParaRPr lang="fr-FR"/>
          </a:p>
        </p:txBody>
      </p:sp>
    </p:spTree>
    <p:extLst>
      <p:ext uri="{BB962C8B-B14F-4D97-AF65-F5344CB8AC3E}">
        <p14:creationId xmlns:p14="http://schemas.microsoft.com/office/powerpoint/2010/main" val="1383624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comprendre pourquoi ce problème persiste, j’ai analysé des données de manière rigoureuse</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2</a:t>
            </a:fld>
            <a:endParaRPr lang="fr-FR"/>
          </a:p>
        </p:txBody>
      </p:sp>
    </p:spTree>
    <p:extLst>
      <p:ext uri="{BB962C8B-B14F-4D97-AF65-F5344CB8AC3E}">
        <p14:creationId xmlns:p14="http://schemas.microsoft.com/office/powerpoint/2010/main" val="4237022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Manipulation, visualisation</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3</a:t>
            </a:fld>
            <a:endParaRPr lang="fr-FR"/>
          </a:p>
        </p:txBody>
      </p:sp>
    </p:spTree>
    <p:extLst>
      <p:ext uri="{BB962C8B-B14F-4D97-AF65-F5344CB8AC3E}">
        <p14:creationId xmlns:p14="http://schemas.microsoft.com/office/powerpoint/2010/main" val="2792309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méthodologie repose sur </a:t>
            </a:r>
            <a:r>
              <a:rPr lang="fr-FR" dirty="0" err="1"/>
              <a:t>quatres</a:t>
            </a:r>
            <a:r>
              <a:rPr lang="fr-FR" dirty="0"/>
              <a:t> fichiers principaux de la </a:t>
            </a:r>
            <a:r>
              <a:rPr lang="fr-FR" dirty="0" err="1"/>
              <a:t>fao</a:t>
            </a:r>
            <a:r>
              <a:rPr lang="fr-FR" dirty="0"/>
              <a:t> </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4</a:t>
            </a:fld>
            <a:endParaRPr lang="fr-FR"/>
          </a:p>
        </p:txBody>
      </p:sp>
    </p:spTree>
    <p:extLst>
      <p:ext uri="{BB962C8B-B14F-4D97-AF65-F5344CB8AC3E}">
        <p14:creationId xmlns:p14="http://schemas.microsoft.com/office/powerpoint/2010/main" val="234660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Données dépourvus de toute information permettant d’identifier des individus, données pays</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5</a:t>
            </a:fld>
            <a:endParaRPr lang="fr-FR"/>
          </a:p>
        </p:txBody>
      </p:sp>
    </p:spTree>
    <p:extLst>
      <p:ext uri="{BB962C8B-B14F-4D97-AF65-F5344CB8AC3E}">
        <p14:creationId xmlns:p14="http://schemas.microsoft.com/office/powerpoint/2010/main" val="1679334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Assemblant toutes les calories disponibles pour l’alimentation humaine, animaux et végétaux = 111% Uniquement ressources végétales plus efficaces moins couteuses en énergie = 91,3% Comblé par réserves ou réduction pertes</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6</a:t>
            </a:fld>
            <a:endParaRPr lang="fr-FR"/>
          </a:p>
        </p:txBody>
      </p:sp>
    </p:spTree>
    <p:extLst>
      <p:ext uri="{BB962C8B-B14F-4D97-AF65-F5344CB8AC3E}">
        <p14:creationId xmlns:p14="http://schemas.microsoft.com/office/powerpoint/2010/main" val="387708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Plus grande part = nourriture humaine. Portion représentant la quantité de </a:t>
            </a:r>
            <a:r>
              <a:rPr lang="fr-FR" dirty="0" err="1"/>
              <a:t>nourritur</a:t>
            </a:r>
            <a:r>
              <a:rPr lang="fr-FR" dirty="0"/>
              <a:t> théoriquement disponible pour la consommation de </a:t>
            </a:r>
            <a:r>
              <a:rPr lang="fr-FR"/>
              <a:t>chaque individu. Pertes </a:t>
            </a:r>
            <a:r>
              <a:rPr lang="fr-FR" dirty="0"/>
              <a:t>= inefficacité majeure = meilleur logistique. Part animale détournée de la consommation humaine. Production = faux problème. L’enjeu de la faim se trouve dans ces parts gérées inefficacement </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7</a:t>
            </a:fld>
            <a:endParaRPr lang="fr-FR"/>
          </a:p>
        </p:txBody>
      </p:sp>
    </p:spTree>
    <p:extLst>
      <p:ext uri="{BB962C8B-B14F-4D97-AF65-F5344CB8AC3E}">
        <p14:creationId xmlns:p14="http://schemas.microsoft.com/office/powerpoint/2010/main" val="4290593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Globalement, une proportion significative de la production mondiale est perdue avant même d'atteindre le consommateur final, </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8</a:t>
            </a:fld>
            <a:endParaRPr lang="fr-FR"/>
          </a:p>
        </p:txBody>
      </p:sp>
    </p:spTree>
    <p:extLst>
      <p:ext uri="{BB962C8B-B14F-4D97-AF65-F5344CB8AC3E}">
        <p14:creationId xmlns:p14="http://schemas.microsoft.com/office/powerpoint/2010/main" val="2499508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1" u="none" strike="noStrike" kern="1200" dirty="0">
                <a:solidFill>
                  <a:schemeClr val="tx1"/>
                </a:solidFill>
                <a:effectLst/>
                <a:latin typeface="+mn-lt"/>
                <a:ea typeface="+mn-ea"/>
                <a:cs typeface="+mn-cs"/>
              </a:rPr>
              <a:t>Ces pertes ne sont qu'une partie de l'histoire, La manière dont la nourriture est distribuée à travers le monde révèle d'énormes disparités</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9</a:t>
            </a:fld>
            <a:endParaRPr lang="fr-FR"/>
          </a:p>
        </p:txBody>
      </p:sp>
    </p:spTree>
    <p:extLst>
      <p:ext uri="{BB962C8B-B14F-4D97-AF65-F5344CB8AC3E}">
        <p14:creationId xmlns:p14="http://schemas.microsoft.com/office/powerpoint/2010/main" val="2939557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Abondance, dépassent largement les besoins recommandés. Pas une population en meilleure santé, surplus structurel et gaspillage potentiel important </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10</a:t>
            </a:fld>
            <a:endParaRPr lang="fr-FR"/>
          </a:p>
        </p:txBody>
      </p:sp>
    </p:spTree>
    <p:extLst>
      <p:ext uri="{BB962C8B-B14F-4D97-AF65-F5344CB8AC3E}">
        <p14:creationId xmlns:p14="http://schemas.microsoft.com/office/powerpoint/2010/main" val="3119608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surplus ou gaspillage pourrait potentiellement combler le déficit calorique. C’est donc un problème de transfert économique et logistique. </a:t>
            </a:r>
            <a:r>
              <a:rPr lang="fr-FR" sz="1200" b="0" i="1" u="none" strike="noStrike" kern="1200" dirty="0">
                <a:solidFill>
                  <a:schemeClr val="tx1"/>
                </a:solidFill>
                <a:effectLst/>
                <a:latin typeface="+mn-lt"/>
                <a:ea typeface="+mn-ea"/>
                <a:cs typeface="+mn-cs"/>
              </a:rPr>
              <a:t>Outre les disparités de distribution, une autre utilisation majeure de notre production alimentaire est souvent négligée : celle destinée aux animaux d'élevage."</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11</a:t>
            </a:fld>
            <a:endParaRPr lang="fr-FR"/>
          </a:p>
        </p:txBody>
      </p:sp>
    </p:spTree>
    <p:extLst>
      <p:ext uri="{BB962C8B-B14F-4D97-AF65-F5344CB8AC3E}">
        <p14:creationId xmlns:p14="http://schemas.microsoft.com/office/powerpoint/2010/main" val="2263813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13% production mondiale de céréales est destinée aux animaux d’élevage, impact fort sur consommation humaine. On a vu disparité, alimentation animale, maintenant question du commerce. </a:t>
            </a:r>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12</a:t>
            </a:fld>
            <a:endParaRPr lang="fr-FR"/>
          </a:p>
        </p:txBody>
      </p:sp>
    </p:spTree>
    <p:extLst>
      <p:ext uri="{BB962C8B-B14F-4D97-AF65-F5344CB8AC3E}">
        <p14:creationId xmlns:p14="http://schemas.microsoft.com/office/powerpoint/2010/main" val="178529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Système d’échanges massif et relativement équilibré. Chiffres mondiaux = équilibré, mais les moyennes peuvent cacher des situations extrêmes. On va prendre l’</a:t>
            </a:r>
            <a:r>
              <a:rPr lang="fr-FR" dirty="0" err="1"/>
              <a:t>exempls</a:t>
            </a:r>
            <a:r>
              <a:rPr lang="fr-FR" dirty="0"/>
              <a:t> du manioc en </a:t>
            </a:r>
            <a:r>
              <a:rPr lang="fr-FR" dirty="0" err="1"/>
              <a:t>Thaîlande</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13</a:t>
            </a:fld>
            <a:endParaRPr lang="fr-FR"/>
          </a:p>
        </p:txBody>
      </p:sp>
    </p:spTree>
    <p:extLst>
      <p:ext uri="{BB962C8B-B14F-4D97-AF65-F5344CB8AC3E}">
        <p14:creationId xmlns:p14="http://schemas.microsoft.com/office/powerpoint/2010/main" val="1335722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Exemple éloquent. Forte dépendance de certains pays envers les marchés étrangers pour certains produits. Contraste avec la moyenne de 51%. </a:t>
            </a:r>
            <a:r>
              <a:rPr lang="fr-FR" sz="1200" b="0" i="1" u="none" strike="noStrike" kern="1200" dirty="0">
                <a:solidFill>
                  <a:schemeClr val="tx1"/>
                </a:solidFill>
                <a:effectLst/>
                <a:latin typeface="+mn-lt"/>
                <a:ea typeface="+mn-ea"/>
                <a:cs typeface="+mn-cs"/>
              </a:rPr>
              <a:t>Face à toutes ces problématiques, la communauté internationale a une réponse : l'aide alimentaire. Mais est-elle suffisante et comment évolue-t-elle ?"</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14</a:t>
            </a:fld>
            <a:endParaRPr lang="fr-FR"/>
          </a:p>
        </p:txBody>
      </p:sp>
    </p:spTree>
    <p:extLst>
      <p:ext uri="{BB962C8B-B14F-4D97-AF65-F5344CB8AC3E}">
        <p14:creationId xmlns:p14="http://schemas.microsoft.com/office/powerpoint/2010/main" val="2295556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r>
              <a:rPr lang="fr-FR" dirty="0"/>
              <a:t>Aide volatile et insuffisante face à l’ampleur du problème. C’est une solution d’urgence et non une solution structurelle. </a:t>
            </a:r>
            <a:r>
              <a:rPr lang="fr-FR" sz="1200" b="0" i="1" u="none" strike="noStrike" kern="1200" dirty="0">
                <a:solidFill>
                  <a:schemeClr val="tx1"/>
                </a:solidFill>
                <a:effectLst/>
                <a:latin typeface="+mn-lt"/>
                <a:ea typeface="+mn-ea"/>
                <a:cs typeface="+mn-cs"/>
              </a:rPr>
              <a:t>Notre analyse a mis en lumière que l'aide alimentaire est cruciale, mais que le problème de la faim ne sera pas résolu sans s'attaquer aux causes profondes Je vais maintenant synthétiser mes </a:t>
            </a:r>
            <a:r>
              <a:rPr lang="fr-FR" sz="1200" b="0" i="1" u="none" strike="noStrike" kern="1200" dirty="0" err="1">
                <a:solidFill>
                  <a:schemeClr val="tx1"/>
                </a:solidFill>
                <a:effectLst/>
                <a:latin typeface="+mn-lt"/>
                <a:ea typeface="+mn-ea"/>
                <a:cs typeface="+mn-cs"/>
              </a:rPr>
              <a:t>conslusions</a:t>
            </a:r>
            <a:r>
              <a:rPr lang="fr-FR" sz="1200" b="0" i="1" u="none" strike="noStrike" kern="1200" dirty="0">
                <a:solidFill>
                  <a:schemeClr val="tx1"/>
                </a:solidFill>
                <a:effectLst/>
                <a:latin typeface="+mn-lt"/>
                <a:ea typeface="+mn-ea"/>
                <a:cs typeface="+mn-cs"/>
              </a:rPr>
              <a:t> </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15</a:t>
            </a:fld>
            <a:endParaRPr lang="fr-FR"/>
          </a:p>
        </p:txBody>
      </p:sp>
    </p:spTree>
    <p:extLst>
      <p:ext uri="{BB962C8B-B14F-4D97-AF65-F5344CB8AC3E}">
        <p14:creationId xmlns:p14="http://schemas.microsoft.com/office/powerpoint/2010/main" val="1544817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la conclusion fondamentale que nous devons retenir ? Prouvé mathématiquement avec 111%, famine n’est pas quantité mais logistique et volonté.</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16</a:t>
            </a:fld>
            <a:endParaRPr lang="fr-FR"/>
          </a:p>
        </p:txBody>
      </p:sp>
    </p:spTree>
    <p:extLst>
      <p:ext uri="{BB962C8B-B14F-4D97-AF65-F5344CB8AC3E}">
        <p14:creationId xmlns:p14="http://schemas.microsoft.com/office/powerpoint/2010/main" val="4265427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draine des ressources qui pourraient être directement allouées à la consommation humaine. Écart démontre que le problème est lié aux facteurs économiques et aux inégalités de pouvoir d’achat à travers le monde. </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17</a:t>
            </a:fld>
            <a:endParaRPr lang="fr-FR"/>
          </a:p>
        </p:txBody>
      </p:sp>
    </p:spTree>
    <p:extLst>
      <p:ext uri="{BB962C8B-B14F-4D97-AF65-F5344CB8AC3E}">
        <p14:creationId xmlns:p14="http://schemas.microsoft.com/office/powerpoint/2010/main" val="186678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Un investissement massif dans les infrastructures de stockage et de transport des pays en difficulté pour </a:t>
            </a:r>
            <a:r>
              <a:rPr lang="fr-FR" sz="1200" b="1" i="0" u="none" strike="noStrike" kern="1200" dirty="0">
                <a:solidFill>
                  <a:schemeClr val="tx1"/>
                </a:solidFill>
                <a:effectLst/>
                <a:latin typeface="+mn-lt"/>
                <a:ea typeface="+mn-ea"/>
                <a:cs typeface="+mn-cs"/>
              </a:rPr>
              <a:t>réduire drastiquement les pertes</a:t>
            </a:r>
            <a:r>
              <a:rPr lang="fr-FR" sz="1200" b="0" i="0" u="none" strike="noStrike" kern="1200" dirty="0">
                <a:solidFill>
                  <a:schemeClr val="tx1"/>
                </a:solidFill>
                <a:effectLst/>
                <a:latin typeface="+mn-lt"/>
                <a:ea typeface="+mn-ea"/>
                <a:cs typeface="+mn-cs"/>
              </a:rPr>
              <a:t> après récolte.  Une réflexion sur la </a:t>
            </a:r>
            <a:r>
              <a:rPr lang="fr-FR" sz="1200" b="1" i="0" u="none" strike="noStrike" kern="1200" dirty="0">
                <a:solidFill>
                  <a:schemeClr val="tx1"/>
                </a:solidFill>
                <a:effectLst/>
                <a:latin typeface="+mn-lt"/>
                <a:ea typeface="+mn-ea"/>
                <a:cs typeface="+mn-cs"/>
              </a:rPr>
              <a:t>réallocation d'une partie des céréales</a:t>
            </a:r>
            <a:r>
              <a:rPr lang="fr-FR" sz="1200" b="0" i="0" u="none" strike="noStrike" kern="1200" dirty="0">
                <a:solidFill>
                  <a:schemeClr val="tx1"/>
                </a:solidFill>
                <a:effectLst/>
                <a:latin typeface="+mn-lt"/>
                <a:ea typeface="+mn-ea"/>
                <a:cs typeface="+mn-cs"/>
              </a:rPr>
              <a:t> destinées à l'alimentation animale vers la consommation humaine, en particulier dans les régions qui en ont le plus besoin. Utiliser la puissance du commerce international pour s'assurer qu'il ne crée pas de dépendances néfastes (comme nous l'avons vu avec le manioc) et qu'il favorise une </a:t>
            </a:r>
            <a:r>
              <a:rPr lang="fr-FR" sz="1200" b="1" i="0" u="none" strike="noStrike" kern="1200" dirty="0">
                <a:solidFill>
                  <a:schemeClr val="tx1"/>
                </a:solidFill>
                <a:effectLst/>
                <a:latin typeface="+mn-lt"/>
                <a:ea typeface="+mn-ea"/>
                <a:cs typeface="+mn-cs"/>
              </a:rPr>
              <a:t>redistribution plus équitable</a:t>
            </a:r>
            <a:r>
              <a:rPr lang="fr-FR" sz="1200" b="0" i="0" u="none" strike="noStrike" kern="1200" dirty="0">
                <a:solidFill>
                  <a:schemeClr val="tx1"/>
                </a:solidFill>
                <a:effectLst/>
                <a:latin typeface="+mn-lt"/>
                <a:ea typeface="+mn-ea"/>
                <a:cs typeface="+mn-cs"/>
              </a:rPr>
              <a:t> des surplus mondiaux."</a:t>
            </a:r>
            <a:endParaRPr lang="fr-FR" dirty="0"/>
          </a:p>
        </p:txBody>
      </p:sp>
      <p:sp>
        <p:nvSpPr>
          <p:cNvPr id="4" name="Espace réservé du numéro de diapositive 3"/>
          <p:cNvSpPr>
            <a:spLocks noGrp="1"/>
          </p:cNvSpPr>
          <p:nvPr>
            <p:ph type="sldNum" sz="quarter" idx="5"/>
          </p:nvPr>
        </p:nvSpPr>
        <p:spPr/>
        <p:txBody>
          <a:bodyPr/>
          <a:lstStyle/>
          <a:p>
            <a:fld id="{940F21CC-7006-4EE0-A85C-C4E7D08DB489}" type="slidenum">
              <a:rPr lang="fr-FR" smtClean="0"/>
              <a:t>18</a:t>
            </a:fld>
            <a:endParaRPr lang="fr-FR"/>
          </a:p>
        </p:txBody>
      </p:sp>
    </p:spTree>
    <p:extLst>
      <p:ext uri="{BB962C8B-B14F-4D97-AF65-F5344CB8AC3E}">
        <p14:creationId xmlns:p14="http://schemas.microsoft.com/office/powerpoint/2010/main" val="2721344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3969"/>
            <a:ext cx="7772400" cy="1470025"/>
          </a:xfrm>
        </p:spPr>
        <p:txBody>
          <a:bodyPr>
            <a:normAutofit/>
          </a:bodyPr>
          <a:lstStyle/>
          <a:p>
            <a:r>
              <a:rPr lang="fr-FR" sz="3200" dirty="0">
                <a:latin typeface="Algerian" panose="04020705040A02060702" pitchFamily="82" charset="0"/>
              </a:rPr>
              <a:t>Enjeux de la faim dans le monde : une analyse des facteurs</a:t>
            </a:r>
            <a:endParaRPr sz="3200" dirty="0">
              <a:latin typeface="Algerian" panose="04020705040A02060702" pitchFamily="82" charset="0"/>
            </a:endParaRPr>
          </a:p>
        </p:txBody>
      </p:sp>
      <p:sp>
        <p:nvSpPr>
          <p:cNvPr id="3" name="Subtitle 2"/>
          <p:cNvSpPr>
            <a:spLocks noGrp="1"/>
          </p:cNvSpPr>
          <p:nvPr>
            <p:ph type="subTitle" idx="1"/>
          </p:nvPr>
        </p:nvSpPr>
        <p:spPr>
          <a:xfrm>
            <a:off x="1" y="4988630"/>
            <a:ext cx="9144000" cy="1752600"/>
          </a:xfrm>
        </p:spPr>
        <p:txBody>
          <a:bodyPr>
            <a:normAutofit/>
          </a:bodyPr>
          <a:lstStyle/>
          <a:p>
            <a:r>
              <a:rPr lang="fr-FR" dirty="0"/>
              <a:t>Pourquoi la sous-nutrition persiste-t-elle alors que la production alimentaire mondiale est abondante ?</a:t>
            </a:r>
            <a:endParaRPr dirty="0"/>
          </a:p>
          <a:p>
            <a:r>
              <a:rPr lang="fr-FR" dirty="0"/>
              <a:t>D’AURA Rémy</a:t>
            </a:r>
            <a:endParaRPr dirty="0"/>
          </a:p>
        </p:txBody>
      </p:sp>
      <p:pic>
        <p:nvPicPr>
          <p:cNvPr id="8" name="Image 7">
            <a:extLst>
              <a:ext uri="{FF2B5EF4-FFF2-40B4-BE49-F238E27FC236}">
                <a16:creationId xmlns:a16="http://schemas.microsoft.com/office/drawing/2014/main" id="{F1B3EF1C-424B-E76F-961D-578C605C3B01}"/>
              </a:ext>
            </a:extLst>
          </p:cNvPr>
          <p:cNvPicPr>
            <a:picLocks noChangeAspect="1"/>
          </p:cNvPicPr>
          <p:nvPr/>
        </p:nvPicPr>
        <p:blipFill>
          <a:blip r:embed="rId3"/>
          <a:stretch>
            <a:fillRect/>
          </a:stretch>
        </p:blipFill>
        <p:spPr>
          <a:xfrm>
            <a:off x="791903" y="1190641"/>
            <a:ext cx="7560194" cy="354960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540"/>
            <a:ext cx="8229600" cy="1143000"/>
          </a:xfrm>
        </p:spPr>
        <p:txBody>
          <a:bodyPr>
            <a:normAutofit/>
          </a:bodyPr>
          <a:lstStyle/>
          <a:p>
            <a:r>
              <a:rPr lang="fr-FR" sz="3200" dirty="0">
                <a:latin typeface="Algerian" panose="04020705040A02060702" pitchFamily="82" charset="0"/>
              </a:rPr>
              <a:t>Chaque jour, des millions de personnes souffrent de la faim</a:t>
            </a:r>
          </a:p>
        </p:txBody>
      </p:sp>
      <p:pic>
        <p:nvPicPr>
          <p:cNvPr id="5" name="Image 4">
            <a:extLst>
              <a:ext uri="{FF2B5EF4-FFF2-40B4-BE49-F238E27FC236}">
                <a16:creationId xmlns:a16="http://schemas.microsoft.com/office/drawing/2014/main" id="{3BE5B27E-1609-7482-B5DD-DDD05028DAE7}"/>
              </a:ext>
            </a:extLst>
          </p:cNvPr>
          <p:cNvPicPr>
            <a:picLocks noChangeAspect="1"/>
          </p:cNvPicPr>
          <p:nvPr/>
        </p:nvPicPr>
        <p:blipFill>
          <a:blip r:embed="rId3"/>
          <a:stretch>
            <a:fillRect/>
          </a:stretch>
        </p:blipFill>
        <p:spPr>
          <a:xfrm>
            <a:off x="1248634" y="1371095"/>
            <a:ext cx="7583991" cy="5180534"/>
          </a:xfrm>
          <a:prstGeom prst="rect">
            <a:avLst/>
          </a:prstGeom>
        </p:spPr>
      </p:pic>
      <p:sp>
        <p:nvSpPr>
          <p:cNvPr id="3" name="ZoneTexte 2">
            <a:extLst>
              <a:ext uri="{FF2B5EF4-FFF2-40B4-BE49-F238E27FC236}">
                <a16:creationId xmlns:a16="http://schemas.microsoft.com/office/drawing/2014/main" id="{02471F42-9C5D-F737-0D87-BBBF4D56423E}"/>
              </a:ext>
            </a:extLst>
          </p:cNvPr>
          <p:cNvSpPr txBox="1"/>
          <p:nvPr/>
        </p:nvSpPr>
        <p:spPr>
          <a:xfrm>
            <a:off x="-801" y="2274570"/>
            <a:ext cx="1319592" cy="1200329"/>
          </a:xfrm>
          <a:prstGeom prst="rect">
            <a:avLst/>
          </a:prstGeom>
          <a:noFill/>
        </p:spPr>
        <p:txBody>
          <a:bodyPr wrap="none" rtlCol="0">
            <a:spAutoFit/>
          </a:bodyPr>
          <a:lstStyle/>
          <a:p>
            <a:pPr algn="ctr"/>
            <a:r>
              <a:rPr lang="fr-FR" sz="3600" dirty="0">
                <a:latin typeface="Imprint MT Shadow" panose="04020605060303030202" pitchFamily="82" charset="0"/>
              </a:rPr>
              <a:t>9,8 %</a:t>
            </a:r>
          </a:p>
          <a:p>
            <a:pPr algn="ctr"/>
            <a:endParaRPr lang="fr-FR" dirty="0">
              <a:latin typeface="Imprint MT Shadow" panose="04020605060303030202" pitchFamily="82" charset="0"/>
            </a:endParaRPr>
          </a:p>
          <a:p>
            <a:pPr algn="ctr"/>
            <a:endParaRPr lang="fr-FR" dirty="0">
              <a:latin typeface="Imprint MT Shadow" panose="04020605060303030202" pitchFamily="82" charset="0"/>
            </a:endParaRPr>
          </a:p>
        </p:txBody>
      </p:sp>
      <p:sp>
        <p:nvSpPr>
          <p:cNvPr id="6" name="ZoneTexte 5">
            <a:extLst>
              <a:ext uri="{FF2B5EF4-FFF2-40B4-BE49-F238E27FC236}">
                <a16:creationId xmlns:a16="http://schemas.microsoft.com/office/drawing/2014/main" id="{22FF46A0-D176-A838-A0F4-5F30B0CB161E}"/>
              </a:ext>
            </a:extLst>
          </p:cNvPr>
          <p:cNvSpPr txBox="1"/>
          <p:nvPr/>
        </p:nvSpPr>
        <p:spPr>
          <a:xfrm>
            <a:off x="-1707803" y="3500528"/>
            <a:ext cx="4663440" cy="954107"/>
          </a:xfrm>
          <a:prstGeom prst="rect">
            <a:avLst/>
          </a:prstGeom>
          <a:noFill/>
        </p:spPr>
        <p:txBody>
          <a:bodyPr wrap="square">
            <a:spAutoFit/>
          </a:bodyPr>
          <a:lstStyle/>
          <a:p>
            <a:pPr algn="ctr"/>
            <a:r>
              <a:rPr lang="fr-FR" sz="2800" dirty="0">
                <a:latin typeface="Imprint MT Shadow" panose="04020605060303030202" pitchFamily="82" charset="0"/>
              </a:rPr>
              <a:t>784 </a:t>
            </a:r>
          </a:p>
          <a:p>
            <a:pPr algn="ctr"/>
            <a:r>
              <a:rPr lang="fr-FR" sz="2800" dirty="0">
                <a:latin typeface="Imprint MT Shadow" panose="04020605060303030202" pitchFamily="82" charset="0"/>
              </a:rPr>
              <a:t>millions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593"/>
            <a:ext cx="8229600" cy="1143000"/>
          </a:xfrm>
        </p:spPr>
        <p:txBody>
          <a:bodyPr>
            <a:normAutofit/>
          </a:bodyPr>
          <a:lstStyle/>
          <a:p>
            <a:r>
              <a:rPr lang="fr-FR" sz="3600" dirty="0">
                <a:latin typeface="Algerian" panose="04020705040A02060702" pitchFamily="82" charset="0"/>
              </a:rPr>
              <a:t>M</a:t>
            </a:r>
            <a:r>
              <a:rPr sz="3600" dirty="0" err="1">
                <a:latin typeface="Algerian" panose="04020705040A02060702" pitchFamily="82" charset="0"/>
              </a:rPr>
              <a:t>éthodologie</a:t>
            </a:r>
            <a:r>
              <a:rPr sz="3600" dirty="0">
                <a:latin typeface="Algerian" panose="04020705040A02060702" pitchFamily="82" charset="0"/>
              </a:rPr>
              <a:t> et sources</a:t>
            </a:r>
          </a:p>
        </p:txBody>
      </p:sp>
      <p:sp>
        <p:nvSpPr>
          <p:cNvPr id="3" name="Content Placeholder 2"/>
          <p:cNvSpPr>
            <a:spLocks noGrp="1"/>
          </p:cNvSpPr>
          <p:nvPr>
            <p:ph idx="1"/>
          </p:nvPr>
        </p:nvSpPr>
        <p:spPr>
          <a:xfrm>
            <a:off x="457199" y="553907"/>
            <a:ext cx="8229600" cy="4525963"/>
          </a:xfrm>
        </p:spPr>
        <p:txBody>
          <a:bodyPr/>
          <a:lstStyle/>
          <a:p>
            <a:endParaRPr dirty="0">
              <a:latin typeface="Imprint MT Shadow" panose="04020605060303030202" pitchFamily="82" charset="0"/>
            </a:endParaRPr>
          </a:p>
          <a:p>
            <a:pPr marL="0" indent="0" algn="ctr">
              <a:buNone/>
            </a:pPr>
            <a:r>
              <a:rPr dirty="0" err="1">
                <a:latin typeface="Imprint MT Shadow" panose="04020605060303030202" pitchFamily="82" charset="0"/>
              </a:rPr>
              <a:t>Analyse</a:t>
            </a:r>
            <a:r>
              <a:rPr dirty="0">
                <a:latin typeface="Imprint MT Shadow" panose="04020605060303030202" pitchFamily="82" charset="0"/>
              </a:rPr>
              <a:t> de données avec Python (Pandas</a:t>
            </a:r>
            <a:r>
              <a:rPr lang="fr-FR" dirty="0">
                <a:latin typeface="Imprint MT Shadow" panose="04020605060303030202" pitchFamily="82" charset="0"/>
              </a:rPr>
              <a:t>, </a:t>
            </a:r>
            <a:r>
              <a:rPr lang="fr-FR" dirty="0" err="1">
                <a:latin typeface="Imprint MT Shadow" panose="04020605060303030202" pitchFamily="82" charset="0"/>
              </a:rPr>
              <a:t>Seaborn</a:t>
            </a:r>
            <a:r>
              <a:rPr lang="fr-FR" dirty="0">
                <a:latin typeface="Imprint MT Shadow" panose="04020605060303030202" pitchFamily="82" charset="0"/>
              </a:rPr>
              <a:t> et</a:t>
            </a:r>
            <a:r>
              <a:rPr dirty="0">
                <a:latin typeface="Imprint MT Shadow" panose="04020605060303030202" pitchFamily="82" charset="0"/>
              </a:rPr>
              <a:t> Matplotlib)</a:t>
            </a:r>
          </a:p>
        </p:txBody>
      </p:sp>
      <p:pic>
        <p:nvPicPr>
          <p:cNvPr id="5" name="Image 4">
            <a:extLst>
              <a:ext uri="{FF2B5EF4-FFF2-40B4-BE49-F238E27FC236}">
                <a16:creationId xmlns:a16="http://schemas.microsoft.com/office/drawing/2014/main" id="{7F2CAF0E-A680-17BE-08EC-F1BAAEF218CF}"/>
              </a:ext>
            </a:extLst>
          </p:cNvPr>
          <p:cNvPicPr>
            <a:picLocks noChangeAspect="1"/>
          </p:cNvPicPr>
          <p:nvPr/>
        </p:nvPicPr>
        <p:blipFill>
          <a:blip r:embed="rId3"/>
          <a:stretch>
            <a:fillRect/>
          </a:stretch>
        </p:blipFill>
        <p:spPr>
          <a:xfrm>
            <a:off x="1118082" y="2960016"/>
            <a:ext cx="6907834" cy="23598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C90416-CE6B-4341-97DD-046CBF3520C5}"/>
              </a:ext>
            </a:extLst>
          </p:cNvPr>
          <p:cNvSpPr>
            <a:spLocks noGrp="1"/>
          </p:cNvSpPr>
          <p:nvPr>
            <p:ph type="title"/>
          </p:nvPr>
        </p:nvSpPr>
        <p:spPr/>
        <p:txBody>
          <a:bodyPr/>
          <a:lstStyle/>
          <a:p>
            <a:r>
              <a:rPr lang="fr-FR" dirty="0">
                <a:latin typeface="Imprint MT Shadow" panose="04020605060303030202" pitchFamily="82" charset="0"/>
              </a:rPr>
              <a:t>Sources de données : FAO</a:t>
            </a:r>
          </a:p>
        </p:txBody>
      </p:sp>
      <p:pic>
        <p:nvPicPr>
          <p:cNvPr id="5" name="Image 4">
            <a:extLst>
              <a:ext uri="{FF2B5EF4-FFF2-40B4-BE49-F238E27FC236}">
                <a16:creationId xmlns:a16="http://schemas.microsoft.com/office/drawing/2014/main" id="{39672E9B-CF98-D3C7-CECD-07003F8C83DA}"/>
              </a:ext>
            </a:extLst>
          </p:cNvPr>
          <p:cNvPicPr>
            <a:picLocks noChangeAspect="1"/>
          </p:cNvPicPr>
          <p:nvPr/>
        </p:nvPicPr>
        <p:blipFill>
          <a:blip r:embed="rId3"/>
          <a:stretch>
            <a:fillRect/>
          </a:stretch>
        </p:blipFill>
        <p:spPr>
          <a:xfrm>
            <a:off x="337352" y="2129869"/>
            <a:ext cx="8469295" cy="2598262"/>
          </a:xfrm>
          <a:prstGeom prst="rect">
            <a:avLst/>
          </a:prstGeom>
        </p:spPr>
      </p:pic>
    </p:spTree>
    <p:extLst>
      <p:ext uri="{BB962C8B-B14F-4D97-AF65-F5344CB8AC3E}">
        <p14:creationId xmlns:p14="http://schemas.microsoft.com/office/powerpoint/2010/main" val="41802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CD8F04-CD3F-C379-CDFC-FD76D6905E02}"/>
              </a:ext>
            </a:extLst>
          </p:cNvPr>
          <p:cNvSpPr>
            <a:spLocks noGrp="1"/>
          </p:cNvSpPr>
          <p:nvPr>
            <p:ph type="title"/>
          </p:nvPr>
        </p:nvSpPr>
        <p:spPr>
          <a:xfrm>
            <a:off x="457199" y="591764"/>
            <a:ext cx="8229600" cy="2438638"/>
          </a:xfrm>
        </p:spPr>
        <p:txBody>
          <a:bodyPr>
            <a:normAutofit fontScale="90000"/>
          </a:bodyPr>
          <a:lstStyle/>
          <a:p>
            <a:br>
              <a:rPr lang="fr-FR" dirty="0">
                <a:latin typeface="Imprint MT Shadow" panose="04020605060303030202" pitchFamily="82" charset="0"/>
              </a:rPr>
            </a:br>
            <a:r>
              <a:rPr lang="fr-FR" sz="3600" dirty="0">
                <a:latin typeface="Imprint MT Shadow" panose="04020605060303030202" pitchFamily="82" charset="0"/>
              </a:rPr>
              <a:t>aide</a:t>
            </a:r>
            <a:r>
              <a:rPr lang="fr-FR" dirty="0">
                <a:latin typeface="Imprint MT Shadow" panose="04020605060303030202" pitchFamily="82" charset="0"/>
              </a:rPr>
              <a:t>_alimentaire.csv, dispo_alimentaire.csv, population.cvs et sous_nutrition.csv</a:t>
            </a:r>
            <a:br>
              <a:rPr lang="fr-FR" dirty="0">
                <a:latin typeface="Imprint MT Shadow" panose="04020605060303030202" pitchFamily="82" charset="0"/>
              </a:rPr>
            </a:br>
            <a:endParaRPr lang="fr-FR" dirty="0">
              <a:latin typeface="Imprint MT Shadow" panose="04020605060303030202" pitchFamily="82" charset="0"/>
            </a:endParaRPr>
          </a:p>
        </p:txBody>
      </p:sp>
      <p:pic>
        <p:nvPicPr>
          <p:cNvPr id="5" name="Image 4">
            <a:extLst>
              <a:ext uri="{FF2B5EF4-FFF2-40B4-BE49-F238E27FC236}">
                <a16:creationId xmlns:a16="http://schemas.microsoft.com/office/drawing/2014/main" id="{AE078A2E-8AD8-55E9-71BB-FE9E471C58D6}"/>
              </a:ext>
            </a:extLst>
          </p:cNvPr>
          <p:cNvPicPr>
            <a:picLocks noChangeAspect="1"/>
          </p:cNvPicPr>
          <p:nvPr/>
        </p:nvPicPr>
        <p:blipFill>
          <a:blip r:embed="rId3"/>
          <a:stretch>
            <a:fillRect/>
          </a:stretch>
        </p:blipFill>
        <p:spPr>
          <a:xfrm>
            <a:off x="374232" y="3429000"/>
            <a:ext cx="8395535" cy="1721611"/>
          </a:xfrm>
          <a:prstGeom prst="rect">
            <a:avLst/>
          </a:prstGeom>
        </p:spPr>
      </p:pic>
      <p:sp>
        <p:nvSpPr>
          <p:cNvPr id="8" name="ZoneTexte 7">
            <a:extLst>
              <a:ext uri="{FF2B5EF4-FFF2-40B4-BE49-F238E27FC236}">
                <a16:creationId xmlns:a16="http://schemas.microsoft.com/office/drawing/2014/main" id="{40392CA4-4D74-FA2C-D774-1D3A28354791}"/>
              </a:ext>
            </a:extLst>
          </p:cNvPr>
          <p:cNvSpPr txBox="1"/>
          <p:nvPr/>
        </p:nvSpPr>
        <p:spPr>
          <a:xfrm>
            <a:off x="2164128" y="65988"/>
            <a:ext cx="4815742" cy="707886"/>
          </a:xfrm>
          <a:prstGeom prst="rect">
            <a:avLst/>
          </a:prstGeom>
          <a:noFill/>
        </p:spPr>
        <p:txBody>
          <a:bodyPr wrap="none" rtlCol="0">
            <a:spAutoFit/>
          </a:bodyPr>
          <a:lstStyle/>
          <a:p>
            <a:r>
              <a:rPr lang="fr-FR" sz="4000" dirty="0">
                <a:latin typeface="Algerian" panose="04020705040A02060702" pitchFamily="82" charset="0"/>
              </a:rPr>
              <a:t>Fichiers utilisés :</a:t>
            </a:r>
          </a:p>
        </p:txBody>
      </p:sp>
    </p:spTree>
    <p:extLst>
      <p:ext uri="{BB962C8B-B14F-4D97-AF65-F5344CB8AC3E}">
        <p14:creationId xmlns:p14="http://schemas.microsoft.com/office/powerpoint/2010/main" val="406970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E517D-BCB0-14C1-C01C-AD9F8A9AEC88}"/>
              </a:ext>
            </a:extLst>
          </p:cNvPr>
          <p:cNvSpPr>
            <a:spLocks noGrp="1"/>
          </p:cNvSpPr>
          <p:nvPr>
            <p:ph type="title"/>
          </p:nvPr>
        </p:nvSpPr>
        <p:spPr>
          <a:xfrm>
            <a:off x="0" y="160337"/>
            <a:ext cx="9144000" cy="1143000"/>
          </a:xfrm>
        </p:spPr>
        <p:txBody>
          <a:bodyPr>
            <a:normAutofit fontScale="90000"/>
          </a:bodyPr>
          <a:lstStyle/>
          <a:p>
            <a:r>
              <a:rPr lang="fr-FR" dirty="0">
                <a:latin typeface="Algerian" panose="04020705040A02060702" pitchFamily="82" charset="0"/>
              </a:rPr>
              <a:t>La production est-elle suffisante?</a:t>
            </a:r>
          </a:p>
        </p:txBody>
      </p:sp>
      <p:pic>
        <p:nvPicPr>
          <p:cNvPr id="5" name="Image 4">
            <a:extLst>
              <a:ext uri="{FF2B5EF4-FFF2-40B4-BE49-F238E27FC236}">
                <a16:creationId xmlns:a16="http://schemas.microsoft.com/office/drawing/2014/main" id="{DB473E02-791A-168B-2F99-2AE36707AB36}"/>
              </a:ext>
            </a:extLst>
          </p:cNvPr>
          <p:cNvPicPr>
            <a:picLocks noChangeAspect="1"/>
          </p:cNvPicPr>
          <p:nvPr/>
        </p:nvPicPr>
        <p:blipFill>
          <a:blip r:embed="rId3"/>
          <a:stretch>
            <a:fillRect/>
          </a:stretch>
        </p:blipFill>
        <p:spPr>
          <a:xfrm>
            <a:off x="482876" y="2458036"/>
            <a:ext cx="8178243" cy="575315"/>
          </a:xfrm>
          <a:prstGeom prst="rect">
            <a:avLst/>
          </a:prstGeom>
        </p:spPr>
      </p:pic>
      <p:pic>
        <p:nvPicPr>
          <p:cNvPr id="7" name="Image 6">
            <a:extLst>
              <a:ext uri="{FF2B5EF4-FFF2-40B4-BE49-F238E27FC236}">
                <a16:creationId xmlns:a16="http://schemas.microsoft.com/office/drawing/2014/main" id="{F9829689-F8CE-1BFB-4127-2240C550DE18}"/>
              </a:ext>
            </a:extLst>
          </p:cNvPr>
          <p:cNvPicPr>
            <a:picLocks noChangeAspect="1"/>
          </p:cNvPicPr>
          <p:nvPr/>
        </p:nvPicPr>
        <p:blipFill>
          <a:blip r:embed="rId4"/>
          <a:stretch>
            <a:fillRect/>
          </a:stretch>
        </p:blipFill>
        <p:spPr>
          <a:xfrm>
            <a:off x="482874" y="4918462"/>
            <a:ext cx="8178243" cy="491514"/>
          </a:xfrm>
          <a:prstGeom prst="rect">
            <a:avLst/>
          </a:prstGeom>
        </p:spPr>
      </p:pic>
      <p:pic>
        <p:nvPicPr>
          <p:cNvPr id="9" name="Image 8">
            <a:extLst>
              <a:ext uri="{FF2B5EF4-FFF2-40B4-BE49-F238E27FC236}">
                <a16:creationId xmlns:a16="http://schemas.microsoft.com/office/drawing/2014/main" id="{5F073463-21DB-F324-3BC5-229192BF5375}"/>
              </a:ext>
            </a:extLst>
          </p:cNvPr>
          <p:cNvPicPr>
            <a:picLocks noChangeAspect="1"/>
          </p:cNvPicPr>
          <p:nvPr/>
        </p:nvPicPr>
        <p:blipFill>
          <a:blip r:embed="rId5"/>
          <a:stretch>
            <a:fillRect/>
          </a:stretch>
        </p:blipFill>
        <p:spPr>
          <a:xfrm>
            <a:off x="1481593" y="1778759"/>
            <a:ext cx="6180810" cy="491513"/>
          </a:xfrm>
          <a:prstGeom prst="rect">
            <a:avLst/>
          </a:prstGeom>
        </p:spPr>
      </p:pic>
      <p:pic>
        <p:nvPicPr>
          <p:cNvPr id="11" name="Image 10">
            <a:extLst>
              <a:ext uri="{FF2B5EF4-FFF2-40B4-BE49-F238E27FC236}">
                <a16:creationId xmlns:a16="http://schemas.microsoft.com/office/drawing/2014/main" id="{097423CE-4B68-266D-D673-D53EDFF6085A}"/>
              </a:ext>
            </a:extLst>
          </p:cNvPr>
          <p:cNvPicPr>
            <a:picLocks noChangeAspect="1"/>
          </p:cNvPicPr>
          <p:nvPr/>
        </p:nvPicPr>
        <p:blipFill>
          <a:blip r:embed="rId6"/>
          <a:stretch>
            <a:fillRect/>
          </a:stretch>
        </p:blipFill>
        <p:spPr>
          <a:xfrm>
            <a:off x="976940" y="4100559"/>
            <a:ext cx="7190109" cy="491512"/>
          </a:xfrm>
          <a:prstGeom prst="rect">
            <a:avLst/>
          </a:prstGeom>
        </p:spPr>
      </p:pic>
      <p:sp>
        <p:nvSpPr>
          <p:cNvPr id="3" name="ZoneTexte 2">
            <a:extLst>
              <a:ext uri="{FF2B5EF4-FFF2-40B4-BE49-F238E27FC236}">
                <a16:creationId xmlns:a16="http://schemas.microsoft.com/office/drawing/2014/main" id="{0221435C-1F8B-A411-132D-7D0507EF58B3}"/>
              </a:ext>
            </a:extLst>
          </p:cNvPr>
          <p:cNvSpPr txBox="1"/>
          <p:nvPr/>
        </p:nvSpPr>
        <p:spPr>
          <a:xfrm>
            <a:off x="3907390" y="3093904"/>
            <a:ext cx="1329210" cy="707886"/>
          </a:xfrm>
          <a:prstGeom prst="rect">
            <a:avLst/>
          </a:prstGeom>
          <a:noFill/>
        </p:spPr>
        <p:txBody>
          <a:bodyPr wrap="none" rtlCol="0">
            <a:spAutoFit/>
          </a:bodyPr>
          <a:lstStyle/>
          <a:p>
            <a:r>
              <a:rPr lang="fr-FR" sz="4000" dirty="0">
                <a:latin typeface="Imprint MT Shadow" panose="04020605060303030202" pitchFamily="82" charset="0"/>
              </a:rPr>
              <a:t>111%</a:t>
            </a:r>
          </a:p>
        </p:txBody>
      </p:sp>
      <p:sp>
        <p:nvSpPr>
          <p:cNvPr id="4" name="ZoneTexte 3">
            <a:extLst>
              <a:ext uri="{FF2B5EF4-FFF2-40B4-BE49-F238E27FC236}">
                <a16:creationId xmlns:a16="http://schemas.microsoft.com/office/drawing/2014/main" id="{CFCB94FE-6570-B835-F368-EC67A6CC3806}"/>
              </a:ext>
            </a:extLst>
          </p:cNvPr>
          <p:cNvSpPr txBox="1"/>
          <p:nvPr/>
        </p:nvSpPr>
        <p:spPr>
          <a:xfrm>
            <a:off x="3907390" y="5571247"/>
            <a:ext cx="1535998" cy="707886"/>
          </a:xfrm>
          <a:prstGeom prst="rect">
            <a:avLst/>
          </a:prstGeom>
          <a:noFill/>
        </p:spPr>
        <p:txBody>
          <a:bodyPr wrap="none" rtlCol="0">
            <a:spAutoFit/>
          </a:bodyPr>
          <a:lstStyle/>
          <a:p>
            <a:r>
              <a:rPr lang="fr-FR" sz="4000" dirty="0">
                <a:latin typeface="Imprint MT Shadow" panose="04020605060303030202" pitchFamily="82" charset="0"/>
              </a:rPr>
              <a:t>91,3%</a:t>
            </a:r>
          </a:p>
        </p:txBody>
      </p:sp>
    </p:spTree>
    <p:extLst>
      <p:ext uri="{BB962C8B-B14F-4D97-AF65-F5344CB8AC3E}">
        <p14:creationId xmlns:p14="http://schemas.microsoft.com/office/powerpoint/2010/main" val="851404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96862"/>
            <a:ext cx="8229600" cy="1143000"/>
          </a:xfrm>
        </p:spPr>
        <p:txBody>
          <a:bodyPr>
            <a:noAutofit/>
          </a:bodyPr>
          <a:lstStyle/>
          <a:p>
            <a:r>
              <a:rPr sz="3200" dirty="0" err="1">
                <a:latin typeface="Algerian" panose="04020705040A02060702" pitchFamily="82" charset="0"/>
              </a:rPr>
              <a:t>Où</a:t>
            </a:r>
            <a:r>
              <a:rPr sz="3200" dirty="0">
                <a:latin typeface="Algerian" panose="04020705040A02060702" pitchFamily="82" charset="0"/>
              </a:rPr>
              <a:t> </a:t>
            </a:r>
            <a:r>
              <a:rPr sz="3200" dirty="0" err="1">
                <a:latin typeface="Algerian" panose="04020705040A02060702" pitchFamily="82" charset="0"/>
              </a:rPr>
              <a:t>va</a:t>
            </a:r>
            <a:r>
              <a:rPr sz="3200" dirty="0">
                <a:latin typeface="Algerian" panose="04020705040A02060702" pitchFamily="82" charset="0"/>
              </a:rPr>
              <a:t> la production </a:t>
            </a:r>
            <a:r>
              <a:rPr sz="3200" dirty="0" err="1">
                <a:latin typeface="Algerian" panose="04020705040A02060702" pitchFamily="82" charset="0"/>
              </a:rPr>
              <a:t>alimentaire</a:t>
            </a:r>
            <a:r>
              <a:rPr sz="3200" dirty="0">
                <a:latin typeface="Algerian" panose="04020705040A02060702" pitchFamily="82" charset="0"/>
              </a:rPr>
              <a:t> ?</a:t>
            </a:r>
          </a:p>
        </p:txBody>
      </p:sp>
      <p:sp>
        <p:nvSpPr>
          <p:cNvPr id="3" name="Content Placeholder 2"/>
          <p:cNvSpPr>
            <a:spLocks noGrp="1"/>
          </p:cNvSpPr>
          <p:nvPr>
            <p:ph idx="1"/>
          </p:nvPr>
        </p:nvSpPr>
        <p:spPr>
          <a:xfrm>
            <a:off x="457200" y="5116398"/>
            <a:ext cx="8229600" cy="4525963"/>
          </a:xfrm>
        </p:spPr>
        <p:txBody>
          <a:bodyPr/>
          <a:lstStyle/>
          <a:p>
            <a:pPr algn="ctr"/>
            <a:endParaRPr dirty="0">
              <a:latin typeface="Imprint MT Shadow" panose="04020605060303030202" pitchFamily="82" charset="0"/>
            </a:endParaRPr>
          </a:p>
          <a:p>
            <a:pPr marL="0" indent="0" algn="ctr">
              <a:buNone/>
            </a:pPr>
            <a:r>
              <a:rPr dirty="0">
                <a:latin typeface="Imprint MT Shadow" panose="04020605060303030202" pitchFamily="82" charset="0"/>
              </a:rPr>
              <a:t>La production </a:t>
            </a:r>
            <a:r>
              <a:rPr dirty="0" err="1">
                <a:latin typeface="Imprint MT Shadow" panose="04020605060303030202" pitchFamily="82" charset="0"/>
              </a:rPr>
              <a:t>mondiale</a:t>
            </a:r>
            <a:r>
              <a:rPr dirty="0">
                <a:latin typeface="Imprint MT Shadow" panose="04020605060303030202" pitchFamily="82" charset="0"/>
              </a:rPr>
              <a:t> </a:t>
            </a:r>
            <a:r>
              <a:rPr dirty="0" err="1">
                <a:latin typeface="Imprint MT Shadow" panose="04020605060303030202" pitchFamily="82" charset="0"/>
              </a:rPr>
              <a:t>est</a:t>
            </a:r>
            <a:r>
              <a:rPr dirty="0">
                <a:latin typeface="Imprint MT Shadow" panose="04020605060303030202" pitchFamily="82" charset="0"/>
              </a:rPr>
              <a:t> suffisante pour </a:t>
            </a:r>
            <a:r>
              <a:rPr dirty="0" err="1">
                <a:latin typeface="Imprint MT Shadow" panose="04020605060303030202" pitchFamily="82" charset="0"/>
              </a:rPr>
              <a:t>nourrir</a:t>
            </a:r>
            <a:r>
              <a:rPr dirty="0">
                <a:latin typeface="Imprint MT Shadow" panose="04020605060303030202" pitchFamily="82" charset="0"/>
              </a:rPr>
              <a:t> tout le monde.</a:t>
            </a:r>
          </a:p>
        </p:txBody>
      </p:sp>
      <p:pic>
        <p:nvPicPr>
          <p:cNvPr id="6" name="Image 5">
            <a:extLst>
              <a:ext uri="{FF2B5EF4-FFF2-40B4-BE49-F238E27FC236}">
                <a16:creationId xmlns:a16="http://schemas.microsoft.com/office/drawing/2014/main" id="{11D12CF0-5160-FF21-46B0-2F0AE2BAFD2A}"/>
              </a:ext>
            </a:extLst>
          </p:cNvPr>
          <p:cNvPicPr>
            <a:picLocks noChangeAspect="1"/>
          </p:cNvPicPr>
          <p:nvPr/>
        </p:nvPicPr>
        <p:blipFill>
          <a:blip r:embed="rId3"/>
          <a:stretch>
            <a:fillRect/>
          </a:stretch>
        </p:blipFill>
        <p:spPr>
          <a:xfrm>
            <a:off x="1541282" y="619476"/>
            <a:ext cx="6061435" cy="49800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 calcmode="lin" valueType="num">
                                      <p:cBhvr additive="base">
                                        <p:cTn id="1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761" y="-231730"/>
            <a:ext cx="8229600" cy="1143000"/>
          </a:xfrm>
        </p:spPr>
        <p:txBody>
          <a:bodyPr>
            <a:normAutofit/>
          </a:bodyPr>
          <a:lstStyle/>
          <a:p>
            <a:r>
              <a:rPr lang="fr-FR" sz="3200" dirty="0">
                <a:latin typeface="Algerian" panose="04020705040A02060702" pitchFamily="82" charset="0"/>
              </a:rPr>
              <a:t>Des pertes qui s'accumulent</a:t>
            </a:r>
            <a:endParaRPr sz="3200" dirty="0">
              <a:latin typeface="Algerian" panose="04020705040A02060702" pitchFamily="82" charset="0"/>
            </a:endParaRPr>
          </a:p>
        </p:txBody>
      </p:sp>
      <p:sp>
        <p:nvSpPr>
          <p:cNvPr id="3" name="Content Placeholder 2"/>
          <p:cNvSpPr>
            <a:spLocks noGrp="1"/>
          </p:cNvSpPr>
          <p:nvPr>
            <p:ph idx="1"/>
          </p:nvPr>
        </p:nvSpPr>
        <p:spPr>
          <a:xfrm>
            <a:off x="1081726" y="5020869"/>
            <a:ext cx="6980548" cy="2165261"/>
          </a:xfrm>
        </p:spPr>
        <p:txBody>
          <a:bodyPr/>
          <a:lstStyle/>
          <a:p>
            <a:endParaRPr dirty="0">
              <a:latin typeface="Imprint MT Shadow" panose="04020605060303030202" pitchFamily="82" charset="0"/>
            </a:endParaRPr>
          </a:p>
          <a:p>
            <a:pPr marL="0" indent="0" algn="ctr">
              <a:buNone/>
            </a:pPr>
            <a:r>
              <a:rPr dirty="0">
                <a:latin typeface="Imprint MT Shadow" panose="04020605060303030202" pitchFamily="82" charset="0"/>
              </a:rPr>
              <a:t>Proportion des </a:t>
            </a:r>
            <a:r>
              <a:rPr dirty="0" err="1">
                <a:latin typeface="Imprint MT Shadow" panose="04020605060303030202" pitchFamily="82" charset="0"/>
              </a:rPr>
              <a:t>pertes</a:t>
            </a:r>
            <a:r>
              <a:rPr dirty="0">
                <a:latin typeface="Imprint MT Shadow" panose="04020605060303030202" pitchFamily="82" charset="0"/>
              </a:rPr>
              <a:t> par rapport à la production </a:t>
            </a:r>
            <a:r>
              <a:rPr dirty="0" err="1">
                <a:latin typeface="Imprint MT Shadow" panose="04020605060303030202" pitchFamily="82" charset="0"/>
              </a:rPr>
              <a:t>totale</a:t>
            </a:r>
            <a:r>
              <a:rPr dirty="0">
                <a:latin typeface="Imprint MT Shadow" panose="04020605060303030202" pitchFamily="82" charset="0"/>
              </a:rPr>
              <a:t>.</a:t>
            </a:r>
          </a:p>
        </p:txBody>
      </p:sp>
      <p:pic>
        <p:nvPicPr>
          <p:cNvPr id="5" name="Image 4">
            <a:extLst>
              <a:ext uri="{FF2B5EF4-FFF2-40B4-BE49-F238E27FC236}">
                <a16:creationId xmlns:a16="http://schemas.microsoft.com/office/drawing/2014/main" id="{6832FEAD-5EB1-466F-7439-EA6F1250A00C}"/>
              </a:ext>
            </a:extLst>
          </p:cNvPr>
          <p:cNvPicPr>
            <a:picLocks noChangeAspect="1"/>
          </p:cNvPicPr>
          <p:nvPr/>
        </p:nvPicPr>
        <p:blipFill>
          <a:blip r:embed="rId3"/>
          <a:srcRect/>
          <a:stretch/>
        </p:blipFill>
        <p:spPr>
          <a:xfrm>
            <a:off x="0" y="1203501"/>
            <a:ext cx="9143999" cy="409073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 calcmode="lin" valueType="num">
                                      <p:cBhvr additive="base">
                                        <p:cTn id="1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r="-5000" b="-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199" y="-67028"/>
            <a:ext cx="8229600" cy="756501"/>
          </a:xfrm>
        </p:spPr>
        <p:txBody>
          <a:bodyPr>
            <a:normAutofit/>
          </a:bodyPr>
          <a:lstStyle/>
          <a:p>
            <a:r>
              <a:rPr sz="3200" dirty="0">
                <a:latin typeface="Algerian" panose="04020705040A02060702" pitchFamily="82" charset="0"/>
              </a:rPr>
              <a:t>De </a:t>
            </a:r>
            <a:r>
              <a:rPr sz="3200" dirty="0" err="1">
                <a:latin typeface="Algerian" panose="04020705040A02060702" pitchFamily="82" charset="0"/>
              </a:rPr>
              <a:t>grandes</a:t>
            </a:r>
            <a:r>
              <a:rPr sz="3200" dirty="0">
                <a:latin typeface="Algerian" panose="04020705040A02060702" pitchFamily="82" charset="0"/>
              </a:rPr>
              <a:t> </a:t>
            </a:r>
            <a:r>
              <a:rPr sz="3200" dirty="0" err="1">
                <a:latin typeface="Algerian" panose="04020705040A02060702" pitchFamily="82" charset="0"/>
              </a:rPr>
              <a:t>disparités</a:t>
            </a:r>
            <a:endParaRPr sz="3200" dirty="0">
              <a:latin typeface="Algerian" panose="04020705040A02060702" pitchFamily="82"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D9581203-D8B9-5B99-DA44-9B2CEEDC790A}"/>
              </a:ext>
            </a:extLst>
          </p:cNvPr>
          <p:cNvPicPr>
            <a:picLocks noChangeAspect="1"/>
          </p:cNvPicPr>
          <p:nvPr/>
        </p:nvPicPr>
        <p:blipFill>
          <a:blip r:embed="rId3"/>
          <a:stretch>
            <a:fillRect/>
          </a:stretch>
        </p:blipFill>
        <p:spPr>
          <a:xfrm>
            <a:off x="0" y="471340"/>
            <a:ext cx="9143999" cy="5627802"/>
          </a:xfrm>
          <a:prstGeom prst="rect">
            <a:avLst/>
          </a:prstGeom>
        </p:spPr>
      </p:pic>
    </p:spTree>
    <p:extLst>
      <p:ext uri="{BB962C8B-B14F-4D97-AF65-F5344CB8AC3E}">
        <p14:creationId xmlns:p14="http://schemas.microsoft.com/office/powerpoint/2010/main" val="331615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D6B5D695-7EA9-BF09-EC57-EDFD6B829FAF}"/>
              </a:ext>
            </a:extLst>
          </p:cNvPr>
          <p:cNvPicPr>
            <a:picLocks noChangeAspect="1"/>
          </p:cNvPicPr>
          <p:nvPr/>
        </p:nvPicPr>
        <p:blipFill>
          <a:blip r:embed="rId3"/>
          <a:stretch>
            <a:fillRect/>
          </a:stretch>
        </p:blipFill>
        <p:spPr>
          <a:xfrm>
            <a:off x="0" y="490194"/>
            <a:ext cx="9144000" cy="5656082"/>
          </a:xfrm>
          <a:prstGeom prst="rect">
            <a:avLst/>
          </a:prstGeom>
        </p:spPr>
      </p:pic>
    </p:spTree>
    <p:extLst>
      <p:ext uri="{BB962C8B-B14F-4D97-AF65-F5344CB8AC3E}">
        <p14:creationId xmlns:p14="http://schemas.microsoft.com/office/powerpoint/2010/main" val="51166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1302"/>
            <a:ext cx="8229600" cy="1143000"/>
          </a:xfrm>
        </p:spPr>
        <p:txBody>
          <a:bodyPr>
            <a:normAutofit/>
          </a:bodyPr>
          <a:lstStyle/>
          <a:p>
            <a:r>
              <a:rPr sz="3200" dirty="0" err="1">
                <a:latin typeface="Algerian" panose="04020705040A02060702" pitchFamily="82" charset="0"/>
              </a:rPr>
              <a:t>L'impact</a:t>
            </a:r>
            <a:r>
              <a:rPr sz="3200" dirty="0">
                <a:latin typeface="Algerian" panose="04020705040A02060702" pitchFamily="82" charset="0"/>
              </a:rPr>
              <a:t> de </a:t>
            </a:r>
            <a:r>
              <a:rPr sz="3200" dirty="0" err="1">
                <a:latin typeface="Algerian" panose="04020705040A02060702" pitchFamily="82" charset="0"/>
              </a:rPr>
              <a:t>l'alimentation</a:t>
            </a:r>
            <a:r>
              <a:rPr sz="3200" dirty="0">
                <a:latin typeface="Algerian" panose="04020705040A02060702" pitchFamily="82" charset="0"/>
              </a:rPr>
              <a:t> </a:t>
            </a:r>
            <a:r>
              <a:rPr sz="3200" dirty="0" err="1">
                <a:latin typeface="Algerian" panose="04020705040A02060702" pitchFamily="82" charset="0"/>
              </a:rPr>
              <a:t>animale</a:t>
            </a:r>
            <a:endParaRPr sz="3200" dirty="0">
              <a:latin typeface="Algerian" panose="04020705040A02060702" pitchFamily="82" charset="0"/>
            </a:endParaRPr>
          </a:p>
        </p:txBody>
      </p:sp>
      <p:sp>
        <p:nvSpPr>
          <p:cNvPr id="3" name="Content Placeholder 2"/>
          <p:cNvSpPr>
            <a:spLocks noGrp="1"/>
          </p:cNvSpPr>
          <p:nvPr>
            <p:ph idx="1"/>
          </p:nvPr>
        </p:nvSpPr>
        <p:spPr>
          <a:xfrm>
            <a:off x="457200" y="6108569"/>
            <a:ext cx="8229600" cy="608666"/>
          </a:xfrm>
        </p:spPr>
        <p:txBody>
          <a:bodyPr/>
          <a:lstStyle/>
          <a:p>
            <a:pPr marL="0" indent="0" algn="ctr">
              <a:buNone/>
            </a:pPr>
            <a:r>
              <a:rPr lang="fr-FR" dirty="0">
                <a:latin typeface="Imprint MT Shadow" panose="04020605060303030202" pitchFamily="82" charset="0"/>
              </a:rPr>
              <a:t>13%</a:t>
            </a:r>
            <a:endParaRPr dirty="0">
              <a:latin typeface="Imprint MT Shadow" panose="04020605060303030202" pitchFamily="82" charset="0"/>
            </a:endParaRPr>
          </a:p>
        </p:txBody>
      </p:sp>
      <p:pic>
        <p:nvPicPr>
          <p:cNvPr id="5" name="Image 4">
            <a:extLst>
              <a:ext uri="{FF2B5EF4-FFF2-40B4-BE49-F238E27FC236}">
                <a16:creationId xmlns:a16="http://schemas.microsoft.com/office/drawing/2014/main" id="{123ED2F0-C736-B1D9-8035-86A4C13FDE57}"/>
              </a:ext>
            </a:extLst>
          </p:cNvPr>
          <p:cNvPicPr>
            <a:picLocks noChangeAspect="1"/>
          </p:cNvPicPr>
          <p:nvPr/>
        </p:nvPicPr>
        <p:blipFill>
          <a:blip r:embed="rId3"/>
          <a:stretch>
            <a:fillRect/>
          </a:stretch>
        </p:blipFill>
        <p:spPr>
          <a:xfrm>
            <a:off x="0" y="1159809"/>
            <a:ext cx="9144000" cy="45383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sz="3200" dirty="0">
                <a:latin typeface="Algerian" panose="04020705040A02060702" pitchFamily="82" charset="0"/>
              </a:rPr>
              <a:t>Un monde </a:t>
            </a:r>
            <a:r>
              <a:rPr sz="3200" dirty="0" err="1">
                <a:latin typeface="Algerian" panose="04020705040A02060702" pitchFamily="82" charset="0"/>
              </a:rPr>
              <a:t>connecté</a:t>
            </a:r>
            <a:r>
              <a:rPr sz="3200" dirty="0">
                <a:latin typeface="Algerian" panose="04020705040A02060702" pitchFamily="82" charset="0"/>
              </a:rPr>
              <a:t> : le </a:t>
            </a:r>
            <a:r>
              <a:rPr sz="3200" dirty="0" err="1">
                <a:latin typeface="Algerian" panose="04020705040A02060702" pitchFamily="82" charset="0"/>
              </a:rPr>
              <a:t>rôle</a:t>
            </a:r>
            <a:r>
              <a:rPr sz="3200" dirty="0">
                <a:latin typeface="Algerian" panose="04020705040A02060702" pitchFamily="82" charset="0"/>
              </a:rPr>
              <a:t> des </a:t>
            </a:r>
            <a:r>
              <a:rPr sz="3200" dirty="0" err="1">
                <a:latin typeface="Algerian" panose="04020705040A02060702" pitchFamily="82" charset="0"/>
              </a:rPr>
              <a:t>échanges</a:t>
            </a:r>
            <a:endParaRPr sz="3200" dirty="0">
              <a:latin typeface="Algerian" panose="04020705040A02060702" pitchFamily="82" charset="0"/>
            </a:endParaRPr>
          </a:p>
        </p:txBody>
      </p:sp>
      <p:sp>
        <p:nvSpPr>
          <p:cNvPr id="3" name="Content Placeholder 2"/>
          <p:cNvSpPr>
            <a:spLocks noGrp="1"/>
          </p:cNvSpPr>
          <p:nvPr>
            <p:ph idx="1"/>
          </p:nvPr>
        </p:nvSpPr>
        <p:spPr>
          <a:xfrm>
            <a:off x="468730" y="5136786"/>
            <a:ext cx="8361575" cy="1919177"/>
          </a:xfrm>
        </p:spPr>
        <p:txBody>
          <a:bodyPr>
            <a:normAutofit/>
          </a:bodyPr>
          <a:lstStyle/>
          <a:p>
            <a:pPr marL="0" indent="0" algn="ctr">
              <a:buNone/>
            </a:pPr>
            <a:r>
              <a:rPr lang="fr-FR" sz="2400" dirty="0">
                <a:latin typeface="Imprint MT Shadow" panose="04020605060303030202" pitchFamily="82" charset="0"/>
              </a:rPr>
              <a:t>Les exportations représentent un peu plus de la moitié du commerce mondial.</a:t>
            </a:r>
          </a:p>
          <a:p>
            <a:pPr marL="0" indent="0" algn="ctr">
              <a:buNone/>
            </a:pPr>
            <a:r>
              <a:rPr lang="fr-FR" sz="2400" dirty="0" err="1">
                <a:latin typeface="Imprint MT Shadow" panose="04020605060303030202" pitchFamily="82" charset="0"/>
              </a:rPr>
              <a:t>proportion_commerce</a:t>
            </a:r>
            <a:r>
              <a:rPr lang="fr-FR" sz="2400" dirty="0">
                <a:latin typeface="Imprint MT Shadow" panose="04020605060303030202" pitchFamily="82" charset="0"/>
              </a:rPr>
              <a:t> = (</a:t>
            </a:r>
            <a:r>
              <a:rPr lang="fr-FR" sz="2400" dirty="0" err="1">
                <a:latin typeface="Imprint MT Shadow" panose="04020605060303030202" pitchFamily="82" charset="0"/>
              </a:rPr>
              <a:t>total_exportations</a:t>
            </a:r>
            <a:r>
              <a:rPr lang="fr-FR" sz="2400" dirty="0">
                <a:latin typeface="Imprint MT Shadow" panose="04020605060303030202" pitchFamily="82" charset="0"/>
              </a:rPr>
              <a:t> / (</a:t>
            </a:r>
            <a:r>
              <a:rPr lang="fr-FR" sz="2400" dirty="0" err="1">
                <a:latin typeface="Imprint MT Shadow" panose="04020605060303030202" pitchFamily="82" charset="0"/>
              </a:rPr>
              <a:t>total_exportations</a:t>
            </a:r>
            <a:r>
              <a:rPr lang="fr-FR" sz="2400" dirty="0">
                <a:latin typeface="Imprint MT Shadow" panose="04020605060303030202" pitchFamily="82" charset="0"/>
              </a:rPr>
              <a:t> + </a:t>
            </a:r>
            <a:r>
              <a:rPr lang="fr-FR" sz="2400" dirty="0" err="1">
                <a:latin typeface="Imprint MT Shadow" panose="04020605060303030202" pitchFamily="82" charset="0"/>
              </a:rPr>
              <a:t>total_importations</a:t>
            </a:r>
            <a:r>
              <a:rPr lang="fr-FR" sz="2400" dirty="0">
                <a:latin typeface="Imprint MT Shadow" panose="04020605060303030202" pitchFamily="82" charset="0"/>
              </a:rPr>
              <a:t>)) * 100</a:t>
            </a:r>
          </a:p>
        </p:txBody>
      </p:sp>
      <p:pic>
        <p:nvPicPr>
          <p:cNvPr id="5" name="Image 4">
            <a:extLst>
              <a:ext uri="{FF2B5EF4-FFF2-40B4-BE49-F238E27FC236}">
                <a16:creationId xmlns:a16="http://schemas.microsoft.com/office/drawing/2014/main" id="{F0430999-CE42-6EC8-0728-421F48AFB1E7}"/>
              </a:ext>
            </a:extLst>
          </p:cNvPr>
          <p:cNvPicPr>
            <a:picLocks noChangeAspect="1"/>
          </p:cNvPicPr>
          <p:nvPr/>
        </p:nvPicPr>
        <p:blipFill>
          <a:blip r:embed="rId3"/>
          <a:stretch>
            <a:fillRect/>
          </a:stretch>
        </p:blipFill>
        <p:spPr>
          <a:xfrm>
            <a:off x="820132" y="1061566"/>
            <a:ext cx="7400041" cy="3331325"/>
          </a:xfrm>
          <a:prstGeom prst="rect">
            <a:avLst/>
          </a:prstGeom>
        </p:spPr>
      </p:pic>
      <p:sp>
        <p:nvSpPr>
          <p:cNvPr id="6" name="ZoneTexte 5">
            <a:extLst>
              <a:ext uri="{FF2B5EF4-FFF2-40B4-BE49-F238E27FC236}">
                <a16:creationId xmlns:a16="http://schemas.microsoft.com/office/drawing/2014/main" id="{0DF3A96D-5F80-12AF-BDCE-A1D0A2AFB475}"/>
              </a:ext>
            </a:extLst>
          </p:cNvPr>
          <p:cNvSpPr txBox="1"/>
          <p:nvPr/>
        </p:nvSpPr>
        <p:spPr>
          <a:xfrm>
            <a:off x="4077886" y="4472451"/>
            <a:ext cx="1143262" cy="584775"/>
          </a:xfrm>
          <a:prstGeom prst="rect">
            <a:avLst/>
          </a:prstGeom>
          <a:noFill/>
        </p:spPr>
        <p:txBody>
          <a:bodyPr wrap="none" rtlCol="0">
            <a:spAutoFit/>
          </a:bodyPr>
          <a:lstStyle/>
          <a:p>
            <a:r>
              <a:rPr lang="fr-FR" sz="3200" u="sng" dirty="0">
                <a:latin typeface="Arial Black" panose="020B0A04020102020204" pitchFamily="34" charset="0"/>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fr-FR" sz="3200" dirty="0">
                <a:latin typeface="Algerian" panose="04020705040A02060702" pitchFamily="82" charset="0"/>
              </a:rPr>
              <a:t>Le Manioc en Thaïlande : un acteur clé des échanges</a:t>
            </a:r>
            <a:endParaRPr sz="3200" dirty="0">
              <a:latin typeface="Algerian" panose="04020705040A02060702" pitchFamily="82" charset="0"/>
            </a:endParaRPr>
          </a:p>
        </p:txBody>
      </p:sp>
      <p:pic>
        <p:nvPicPr>
          <p:cNvPr id="5" name="Espace réservé du contenu 4">
            <a:extLst>
              <a:ext uri="{FF2B5EF4-FFF2-40B4-BE49-F238E27FC236}">
                <a16:creationId xmlns:a16="http://schemas.microsoft.com/office/drawing/2014/main" id="{B62AD03A-9172-8051-96BA-BEA70A4E92AF}"/>
              </a:ext>
            </a:extLst>
          </p:cNvPr>
          <p:cNvPicPr>
            <a:picLocks noGrp="1" noChangeAspect="1"/>
          </p:cNvPicPr>
          <p:nvPr>
            <p:ph idx="1"/>
          </p:nvPr>
        </p:nvPicPr>
        <p:blipFill>
          <a:blip r:embed="rId3"/>
          <a:stretch>
            <a:fillRect/>
          </a:stretch>
        </p:blipFill>
        <p:spPr>
          <a:xfrm>
            <a:off x="2290745" y="1143000"/>
            <a:ext cx="4562510" cy="4063219"/>
          </a:xfrm>
        </p:spPr>
      </p:pic>
      <p:sp>
        <p:nvSpPr>
          <p:cNvPr id="6" name="ZoneTexte 5">
            <a:extLst>
              <a:ext uri="{FF2B5EF4-FFF2-40B4-BE49-F238E27FC236}">
                <a16:creationId xmlns:a16="http://schemas.microsoft.com/office/drawing/2014/main" id="{F4658192-DDD5-2DEC-3C28-E2738321EE07}"/>
              </a:ext>
            </a:extLst>
          </p:cNvPr>
          <p:cNvSpPr txBox="1"/>
          <p:nvPr/>
        </p:nvSpPr>
        <p:spPr>
          <a:xfrm>
            <a:off x="124218" y="5602895"/>
            <a:ext cx="8895564" cy="830997"/>
          </a:xfrm>
          <a:prstGeom prst="rect">
            <a:avLst/>
          </a:prstGeom>
          <a:noFill/>
        </p:spPr>
        <p:txBody>
          <a:bodyPr wrap="square" rtlCol="0">
            <a:spAutoFit/>
          </a:bodyPr>
          <a:lstStyle/>
          <a:p>
            <a:pPr algn="ctr"/>
            <a:r>
              <a:rPr lang="fr-FR" sz="2400" dirty="0">
                <a:latin typeface="Imprint MT Shadow" panose="04020605060303030202" pitchFamily="82" charset="0"/>
                <a:cs typeface="Arial" panose="020B0604020202020204" pitchFamily="34" charset="0"/>
              </a:rPr>
              <a:t>80 % de la production de manioc de la Thaïlande est destinée à l'exportation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580"/>
            <a:ext cx="8229600" cy="1143000"/>
          </a:xfrm>
        </p:spPr>
        <p:txBody>
          <a:bodyPr>
            <a:normAutofit/>
          </a:bodyPr>
          <a:lstStyle/>
          <a:p>
            <a:r>
              <a:rPr sz="3200" dirty="0" err="1">
                <a:latin typeface="Algerian" panose="04020705040A02060702" pitchFamily="82" charset="0"/>
              </a:rPr>
              <a:t>L'aide</a:t>
            </a:r>
            <a:r>
              <a:rPr sz="3200" dirty="0">
                <a:latin typeface="Algerian" panose="04020705040A02060702" pitchFamily="82" charset="0"/>
              </a:rPr>
              <a:t> </a:t>
            </a:r>
            <a:r>
              <a:rPr sz="3200" dirty="0" err="1">
                <a:latin typeface="Algerian" panose="04020705040A02060702" pitchFamily="82" charset="0"/>
              </a:rPr>
              <a:t>alimentaire</a:t>
            </a:r>
            <a:r>
              <a:rPr sz="3200" dirty="0">
                <a:latin typeface="Algerian" panose="04020705040A02060702" pitchFamily="82" charset="0"/>
              </a:rPr>
              <a:t> : </a:t>
            </a:r>
            <a:r>
              <a:rPr sz="3200" dirty="0" err="1">
                <a:latin typeface="Algerian" panose="04020705040A02060702" pitchFamily="82" charset="0"/>
              </a:rPr>
              <a:t>une</a:t>
            </a:r>
            <a:r>
              <a:rPr sz="3200" dirty="0">
                <a:latin typeface="Algerian" panose="04020705040A02060702" pitchFamily="82" charset="0"/>
              </a:rPr>
              <a:t> </a:t>
            </a:r>
            <a:r>
              <a:rPr sz="3200" dirty="0" err="1">
                <a:latin typeface="Algerian" panose="04020705040A02060702" pitchFamily="82" charset="0"/>
              </a:rPr>
              <a:t>réponse</a:t>
            </a:r>
            <a:r>
              <a:rPr sz="3200" dirty="0">
                <a:latin typeface="Algerian" panose="04020705040A02060702" pitchFamily="82" charset="0"/>
              </a:rPr>
              <a:t> </a:t>
            </a:r>
            <a:r>
              <a:rPr sz="3200" dirty="0" err="1">
                <a:latin typeface="Algerian" panose="04020705040A02060702" pitchFamily="82" charset="0"/>
              </a:rPr>
              <a:t>insuffisante</a:t>
            </a:r>
            <a:r>
              <a:rPr sz="3200" dirty="0">
                <a:latin typeface="Algerian" panose="04020705040A02060702" pitchFamily="82" charset="0"/>
              </a:rPr>
              <a:t> ?</a:t>
            </a:r>
          </a:p>
        </p:txBody>
      </p:sp>
      <p:pic>
        <p:nvPicPr>
          <p:cNvPr id="7" name="Image 6">
            <a:extLst>
              <a:ext uri="{FF2B5EF4-FFF2-40B4-BE49-F238E27FC236}">
                <a16:creationId xmlns:a16="http://schemas.microsoft.com/office/drawing/2014/main" id="{C8ADCCA8-82F7-B33B-6F6A-8CD9DC257005}"/>
              </a:ext>
            </a:extLst>
          </p:cNvPr>
          <p:cNvPicPr>
            <a:picLocks noChangeAspect="1"/>
          </p:cNvPicPr>
          <p:nvPr/>
        </p:nvPicPr>
        <p:blipFill>
          <a:blip r:embed="rId3"/>
          <a:stretch>
            <a:fillRect/>
          </a:stretch>
        </p:blipFill>
        <p:spPr>
          <a:xfrm>
            <a:off x="0" y="1917329"/>
            <a:ext cx="9144000" cy="43808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2434"/>
            <a:ext cx="8229600" cy="1143000"/>
          </a:xfrm>
        </p:spPr>
        <p:txBody>
          <a:bodyPr>
            <a:normAutofit/>
          </a:bodyPr>
          <a:lstStyle/>
          <a:p>
            <a:r>
              <a:rPr sz="4000" dirty="0" err="1">
                <a:latin typeface="Algerian" panose="04020705040A02060702" pitchFamily="82" charset="0"/>
              </a:rPr>
              <a:t>Synthèse</a:t>
            </a:r>
            <a:r>
              <a:rPr sz="4000" dirty="0">
                <a:latin typeface="Algerian" panose="04020705040A02060702" pitchFamily="82" charset="0"/>
              </a:rPr>
              <a:t> et </a:t>
            </a:r>
            <a:r>
              <a:rPr sz="4000" dirty="0" err="1">
                <a:latin typeface="Algerian" panose="04020705040A02060702" pitchFamily="82" charset="0"/>
              </a:rPr>
              <a:t>recommandations</a:t>
            </a:r>
            <a:endParaRPr sz="4000" dirty="0">
              <a:latin typeface="Algerian" panose="04020705040A02060702" pitchFamily="82" charset="0"/>
            </a:endParaRPr>
          </a:p>
        </p:txBody>
      </p:sp>
      <p:sp>
        <p:nvSpPr>
          <p:cNvPr id="5" name="Espace réservé du contenu 4">
            <a:extLst>
              <a:ext uri="{FF2B5EF4-FFF2-40B4-BE49-F238E27FC236}">
                <a16:creationId xmlns:a16="http://schemas.microsoft.com/office/drawing/2014/main" id="{BBD4716F-2BAA-2E1F-8E43-79B476F3724D}"/>
              </a:ext>
            </a:extLst>
          </p:cNvPr>
          <p:cNvSpPr>
            <a:spLocks noGrp="1"/>
          </p:cNvSpPr>
          <p:nvPr>
            <p:ph idx="1"/>
          </p:nvPr>
        </p:nvSpPr>
        <p:spPr>
          <a:xfrm>
            <a:off x="457200" y="1538763"/>
            <a:ext cx="8229600" cy="1143000"/>
          </a:xfrm>
        </p:spPr>
        <p:txBody>
          <a:bodyPr/>
          <a:lstStyle/>
          <a:p>
            <a:pPr marL="0" indent="0" algn="ctr">
              <a:buNone/>
            </a:pPr>
            <a:r>
              <a:rPr lang="fr-FR" dirty="0">
                <a:latin typeface="Imprint MT Shadow" panose="04020605060303030202" pitchFamily="82" charset="0"/>
              </a:rPr>
              <a:t>La production alimentaire mondiale est </a:t>
            </a:r>
            <a:r>
              <a:rPr lang="fr-FR" b="1" dirty="0">
                <a:latin typeface="Imprint MT Shadow" panose="04020605060303030202" pitchFamily="82" charset="0"/>
              </a:rPr>
              <a:t>suffisante</a:t>
            </a:r>
            <a:r>
              <a:rPr lang="fr-FR" dirty="0">
                <a:latin typeface="Imprint MT Shadow" panose="04020605060303030202" pitchFamily="82" charset="0"/>
              </a:rPr>
              <a:t> pour nourrir tout le monde</a:t>
            </a:r>
          </a:p>
        </p:txBody>
      </p:sp>
      <p:sp>
        <p:nvSpPr>
          <p:cNvPr id="6" name="ZoneTexte 5">
            <a:extLst>
              <a:ext uri="{FF2B5EF4-FFF2-40B4-BE49-F238E27FC236}">
                <a16:creationId xmlns:a16="http://schemas.microsoft.com/office/drawing/2014/main" id="{ABE9B606-A514-24C6-CB91-C2A8CE6AC223}"/>
              </a:ext>
            </a:extLst>
          </p:cNvPr>
          <p:cNvSpPr txBox="1"/>
          <p:nvPr/>
        </p:nvSpPr>
        <p:spPr>
          <a:xfrm>
            <a:off x="2548847" y="826999"/>
            <a:ext cx="4046301" cy="707886"/>
          </a:xfrm>
          <a:prstGeom prst="rect">
            <a:avLst/>
          </a:prstGeom>
          <a:noFill/>
        </p:spPr>
        <p:txBody>
          <a:bodyPr wrap="none" rtlCol="0">
            <a:spAutoFit/>
          </a:bodyPr>
          <a:lstStyle/>
          <a:p>
            <a:r>
              <a:rPr lang="fr-FR" sz="4000" dirty="0">
                <a:latin typeface="Algerian" panose="04020705040A02060702" pitchFamily="82" charset="0"/>
              </a:rPr>
              <a:t>Le diagnostic :</a:t>
            </a:r>
          </a:p>
        </p:txBody>
      </p:sp>
      <p:pic>
        <p:nvPicPr>
          <p:cNvPr id="8" name="Image 7">
            <a:extLst>
              <a:ext uri="{FF2B5EF4-FFF2-40B4-BE49-F238E27FC236}">
                <a16:creationId xmlns:a16="http://schemas.microsoft.com/office/drawing/2014/main" id="{CCF0F7DA-1396-838F-6BAA-250708261315}"/>
              </a:ext>
            </a:extLst>
          </p:cNvPr>
          <p:cNvPicPr>
            <a:picLocks noChangeAspect="1"/>
          </p:cNvPicPr>
          <p:nvPr/>
        </p:nvPicPr>
        <p:blipFill>
          <a:blip r:embed="rId3"/>
          <a:stretch>
            <a:fillRect/>
          </a:stretch>
        </p:blipFill>
        <p:spPr>
          <a:xfrm>
            <a:off x="777710" y="2655838"/>
            <a:ext cx="7588577" cy="40299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804A66-47BC-3A61-4FAB-687F2E56E672}"/>
              </a:ext>
            </a:extLst>
          </p:cNvPr>
          <p:cNvSpPr>
            <a:spLocks noGrp="1"/>
          </p:cNvSpPr>
          <p:nvPr>
            <p:ph type="title"/>
          </p:nvPr>
        </p:nvSpPr>
        <p:spPr>
          <a:xfrm>
            <a:off x="457200" y="-189633"/>
            <a:ext cx="8229600" cy="1143000"/>
          </a:xfrm>
        </p:spPr>
        <p:txBody>
          <a:bodyPr>
            <a:normAutofit/>
          </a:bodyPr>
          <a:lstStyle/>
          <a:p>
            <a:r>
              <a:rPr lang="fr-FR" sz="4000" dirty="0">
                <a:latin typeface="Algerian" panose="04020705040A02060702" pitchFamily="82" charset="0"/>
              </a:rPr>
              <a:t>Le problème :</a:t>
            </a:r>
          </a:p>
        </p:txBody>
      </p:sp>
      <p:sp>
        <p:nvSpPr>
          <p:cNvPr id="3" name="Espace réservé du contenu 2">
            <a:extLst>
              <a:ext uri="{FF2B5EF4-FFF2-40B4-BE49-F238E27FC236}">
                <a16:creationId xmlns:a16="http://schemas.microsoft.com/office/drawing/2014/main" id="{C45B75C6-6502-BA08-565C-2E02D4C34A39}"/>
              </a:ext>
            </a:extLst>
          </p:cNvPr>
          <p:cNvSpPr>
            <a:spLocks noGrp="1"/>
          </p:cNvSpPr>
          <p:nvPr>
            <p:ph idx="1"/>
          </p:nvPr>
        </p:nvSpPr>
        <p:spPr>
          <a:xfrm>
            <a:off x="457200" y="817940"/>
            <a:ext cx="8229600" cy="4525963"/>
          </a:xfrm>
        </p:spPr>
        <p:txBody>
          <a:bodyPr/>
          <a:lstStyle/>
          <a:p>
            <a:pPr marL="0" indent="0" algn="ctr">
              <a:buNone/>
            </a:pPr>
            <a:r>
              <a:rPr lang="fr-FR" dirty="0">
                <a:latin typeface="Imprint MT Shadow" panose="04020605060303030202" pitchFamily="82" charset="0"/>
              </a:rPr>
              <a:t>Les problèmes majeurs sont le </a:t>
            </a:r>
            <a:r>
              <a:rPr lang="fr-FR" b="1" dirty="0">
                <a:latin typeface="Imprint MT Shadow" panose="04020605060303030202" pitchFamily="82" charset="0"/>
              </a:rPr>
              <a:t>gaspillage</a:t>
            </a:r>
            <a:r>
              <a:rPr lang="fr-FR" dirty="0">
                <a:latin typeface="Imprint MT Shadow" panose="04020605060303030202" pitchFamily="82" charset="0"/>
              </a:rPr>
              <a:t> et les </a:t>
            </a:r>
            <a:r>
              <a:rPr lang="fr-FR" b="1" dirty="0">
                <a:latin typeface="Imprint MT Shadow" panose="04020605060303030202" pitchFamily="82" charset="0"/>
              </a:rPr>
              <a:t>disparités</a:t>
            </a:r>
            <a:r>
              <a:rPr lang="fr-FR" dirty="0">
                <a:latin typeface="Imprint MT Shadow" panose="04020605060303030202" pitchFamily="82" charset="0"/>
              </a:rPr>
              <a:t> de distribution</a:t>
            </a:r>
          </a:p>
        </p:txBody>
      </p:sp>
      <p:pic>
        <p:nvPicPr>
          <p:cNvPr id="7" name="Image 6">
            <a:extLst>
              <a:ext uri="{FF2B5EF4-FFF2-40B4-BE49-F238E27FC236}">
                <a16:creationId xmlns:a16="http://schemas.microsoft.com/office/drawing/2014/main" id="{CD62A9AE-6835-0E51-AEF4-B3E62502FAA6}"/>
              </a:ext>
            </a:extLst>
          </p:cNvPr>
          <p:cNvPicPr>
            <a:picLocks noChangeAspect="1"/>
          </p:cNvPicPr>
          <p:nvPr/>
        </p:nvPicPr>
        <p:blipFill>
          <a:blip r:embed="rId3"/>
          <a:stretch>
            <a:fillRect/>
          </a:stretch>
        </p:blipFill>
        <p:spPr>
          <a:xfrm>
            <a:off x="1903940" y="2324970"/>
            <a:ext cx="5336118" cy="3981564"/>
          </a:xfrm>
          <a:prstGeom prst="rect">
            <a:avLst/>
          </a:prstGeom>
        </p:spPr>
      </p:pic>
    </p:spTree>
    <p:extLst>
      <p:ext uri="{BB962C8B-B14F-4D97-AF65-F5344CB8AC3E}">
        <p14:creationId xmlns:p14="http://schemas.microsoft.com/office/powerpoint/2010/main" val="3692667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1FF4A-562E-0ADF-A053-DC490E41806E}"/>
              </a:ext>
            </a:extLst>
          </p:cNvPr>
          <p:cNvSpPr>
            <a:spLocks noGrp="1"/>
          </p:cNvSpPr>
          <p:nvPr>
            <p:ph type="title"/>
          </p:nvPr>
        </p:nvSpPr>
        <p:spPr>
          <a:xfrm>
            <a:off x="457199" y="-75249"/>
            <a:ext cx="8229600" cy="1143000"/>
          </a:xfrm>
        </p:spPr>
        <p:txBody>
          <a:bodyPr>
            <a:normAutofit/>
          </a:bodyPr>
          <a:lstStyle/>
          <a:p>
            <a:r>
              <a:rPr lang="fr-FR" sz="4000" dirty="0">
                <a:latin typeface="Algerian" panose="04020705040A02060702" pitchFamily="82" charset="0"/>
              </a:rPr>
              <a:t>Les solutions :</a:t>
            </a:r>
          </a:p>
        </p:txBody>
      </p:sp>
      <p:sp>
        <p:nvSpPr>
          <p:cNvPr id="3" name="Espace réservé du contenu 2">
            <a:extLst>
              <a:ext uri="{FF2B5EF4-FFF2-40B4-BE49-F238E27FC236}">
                <a16:creationId xmlns:a16="http://schemas.microsoft.com/office/drawing/2014/main" id="{B7EE9ECA-5160-2AF3-5A5E-28752E9B5363}"/>
              </a:ext>
            </a:extLst>
          </p:cNvPr>
          <p:cNvSpPr>
            <a:spLocks noGrp="1"/>
          </p:cNvSpPr>
          <p:nvPr>
            <p:ph idx="1"/>
          </p:nvPr>
        </p:nvSpPr>
        <p:spPr>
          <a:xfrm>
            <a:off x="457199" y="933800"/>
            <a:ext cx="8229600" cy="4525963"/>
          </a:xfrm>
        </p:spPr>
        <p:txBody>
          <a:bodyPr/>
          <a:lstStyle/>
          <a:p>
            <a:pPr marL="0" indent="0" algn="ctr">
              <a:buNone/>
            </a:pPr>
            <a:r>
              <a:rPr lang="fr-FR" dirty="0">
                <a:latin typeface="Imprint MT Shadow" panose="04020605060303030202" pitchFamily="82" charset="0"/>
              </a:rPr>
              <a:t>Les solutions passent par une </a:t>
            </a:r>
            <a:r>
              <a:rPr lang="fr-FR" b="1" dirty="0">
                <a:latin typeface="Imprint MT Shadow" panose="04020605060303030202" pitchFamily="82" charset="0"/>
              </a:rPr>
              <a:t>meilleure gestion des stocks</a:t>
            </a:r>
            <a:r>
              <a:rPr lang="fr-FR" dirty="0">
                <a:latin typeface="Imprint MT Shadow" panose="04020605060303030202" pitchFamily="82" charset="0"/>
              </a:rPr>
              <a:t>, une </a:t>
            </a:r>
            <a:r>
              <a:rPr lang="fr-FR" b="1" dirty="0">
                <a:latin typeface="Imprint MT Shadow" panose="04020605060303030202" pitchFamily="82" charset="0"/>
              </a:rPr>
              <a:t>réduction des pertes</a:t>
            </a:r>
            <a:r>
              <a:rPr lang="fr-FR" dirty="0">
                <a:latin typeface="Imprint MT Shadow" panose="04020605060303030202" pitchFamily="82" charset="0"/>
              </a:rPr>
              <a:t> et une </a:t>
            </a:r>
            <a:r>
              <a:rPr lang="fr-FR" b="1" dirty="0">
                <a:latin typeface="Imprint MT Shadow" panose="04020605060303030202" pitchFamily="82" charset="0"/>
              </a:rPr>
              <a:t>réforme du commerce</a:t>
            </a:r>
            <a:endParaRPr lang="fr-FR" dirty="0">
              <a:latin typeface="Imprint MT Shadow" panose="04020605060303030202" pitchFamily="82" charset="0"/>
            </a:endParaRPr>
          </a:p>
        </p:txBody>
      </p:sp>
      <p:pic>
        <p:nvPicPr>
          <p:cNvPr id="5" name="Image 4">
            <a:extLst>
              <a:ext uri="{FF2B5EF4-FFF2-40B4-BE49-F238E27FC236}">
                <a16:creationId xmlns:a16="http://schemas.microsoft.com/office/drawing/2014/main" id="{6653E71F-1B4D-603D-5DB3-10B4BE733E6F}"/>
              </a:ext>
            </a:extLst>
          </p:cNvPr>
          <p:cNvPicPr>
            <a:picLocks noChangeAspect="1"/>
          </p:cNvPicPr>
          <p:nvPr/>
        </p:nvPicPr>
        <p:blipFill>
          <a:blip r:embed="rId3"/>
          <a:stretch>
            <a:fillRect/>
          </a:stretch>
        </p:blipFill>
        <p:spPr>
          <a:xfrm>
            <a:off x="1418375" y="2779479"/>
            <a:ext cx="6307250" cy="3830735"/>
          </a:xfrm>
          <a:prstGeom prst="rect">
            <a:avLst/>
          </a:prstGeom>
        </p:spPr>
      </p:pic>
    </p:spTree>
    <p:extLst>
      <p:ext uri="{BB962C8B-B14F-4D97-AF65-F5344CB8AC3E}">
        <p14:creationId xmlns:p14="http://schemas.microsoft.com/office/powerpoint/2010/main" val="38899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1764</TotalTime>
  <Words>841</Words>
  <Application>Microsoft Office PowerPoint</Application>
  <PresentationFormat>Affichage à l'écran (4:3)</PresentationFormat>
  <Paragraphs>75</Paragraphs>
  <Slides>18</Slides>
  <Notes>18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Algerian</vt:lpstr>
      <vt:lpstr>Arial</vt:lpstr>
      <vt:lpstr>Arial Black</vt:lpstr>
      <vt:lpstr>Calibri</vt:lpstr>
      <vt:lpstr>Imprint MT Shadow</vt:lpstr>
      <vt:lpstr>Office Theme</vt:lpstr>
      <vt:lpstr>Enjeux de la faim dans le monde : une analyse des facteurs</vt:lpstr>
      <vt:lpstr>Chaque jour, des millions de personnes souffrent de la faim</vt:lpstr>
      <vt:lpstr>Méthodologie et sources</vt:lpstr>
      <vt:lpstr>Sources de données : FAO</vt:lpstr>
      <vt:lpstr> aide_alimentaire.csv, dispo_alimentaire.csv, population.cvs et sous_nutrition.csv </vt:lpstr>
      <vt:lpstr>La production est-elle suffisante?</vt:lpstr>
      <vt:lpstr>Où va la production alimentaire ?</vt:lpstr>
      <vt:lpstr>Des pertes qui s'accumulent</vt:lpstr>
      <vt:lpstr>De grandes disparités</vt:lpstr>
      <vt:lpstr>Présentation PowerPoint</vt:lpstr>
      <vt:lpstr>Présentation PowerPoint</vt:lpstr>
      <vt:lpstr>L'impact de l'alimentation animale</vt:lpstr>
      <vt:lpstr>Un monde connecté : le rôle des échanges</vt:lpstr>
      <vt:lpstr>Le Manioc en Thaïlande : un acteur clé des échanges</vt:lpstr>
      <vt:lpstr>L'aide alimentaire : une réponse insuffisante ?</vt:lpstr>
      <vt:lpstr>Synthèse et recommandations</vt:lpstr>
      <vt:lpstr>Le problème :</vt:lpstr>
      <vt:lpstr>Les solutions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remy daura</cp:lastModifiedBy>
  <cp:revision>30</cp:revision>
  <dcterms:created xsi:type="dcterms:W3CDTF">2013-01-27T09:14:16Z</dcterms:created>
  <dcterms:modified xsi:type="dcterms:W3CDTF">2025-10-08T08:06:45Z</dcterms:modified>
  <cp:category/>
</cp:coreProperties>
</file>